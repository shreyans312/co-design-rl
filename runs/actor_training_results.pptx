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(Battery 4.99)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none"/>
            <c:spPr>
              <a:noFill/>
              <a:ln>
                <a:noFill/>
              </a:ln>
            </c:spPr>
          </c:marker>
          <c:cat>
            <c:strRef>
              <c:f>Sheet1!$A$2:$A$101</c:f>
              <c:strCache>
                <c:ptCount val="1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50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75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100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150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175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200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225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250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275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300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325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350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>375</c:v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>400</c:v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425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>450</c:v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>475</c:v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500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-95.217</c:v>
                </c:pt>
                <c:pt idx="1">
                  <c:v>-93.648</c:v>
                </c:pt>
                <c:pt idx="2">
                  <c:v>-89.932</c:v>
                </c:pt>
                <c:pt idx="3">
                  <c:v>-91.832</c:v>
                </c:pt>
                <c:pt idx="4">
                  <c:v>-89.634</c:v>
                </c:pt>
                <c:pt idx="5">
                  <c:v>-90.067</c:v>
                </c:pt>
                <c:pt idx="6">
                  <c:v>-93.066</c:v>
                </c:pt>
                <c:pt idx="7">
                  <c:v>-90.102</c:v>
                </c:pt>
                <c:pt idx="8">
                  <c:v>-91.7</c:v>
                </c:pt>
                <c:pt idx="9">
                  <c:v>-92.908</c:v>
                </c:pt>
                <c:pt idx="10">
                  <c:v>-90.269</c:v>
                </c:pt>
                <c:pt idx="11">
                  <c:v>-90.683</c:v>
                </c:pt>
                <c:pt idx="12">
                  <c:v>-90.55</c:v>
                </c:pt>
                <c:pt idx="13">
                  <c:v>-89.904</c:v>
                </c:pt>
                <c:pt idx="14">
                  <c:v>-92.154</c:v>
                </c:pt>
                <c:pt idx="15">
                  <c:v>-90.302</c:v>
                </c:pt>
                <c:pt idx="16">
                  <c:v>-88.224</c:v>
                </c:pt>
                <c:pt idx="17">
                  <c:v>-91.389</c:v>
                </c:pt>
                <c:pt idx="18">
                  <c:v>-90.208</c:v>
                </c:pt>
                <c:pt idx="19">
                  <c:v>-92.213</c:v>
                </c:pt>
                <c:pt idx="20">
                  <c:v>-89.962</c:v>
                </c:pt>
                <c:pt idx="21">
                  <c:v>-94.739</c:v>
                </c:pt>
                <c:pt idx="22">
                  <c:v>-95.488</c:v>
                </c:pt>
                <c:pt idx="23">
                  <c:v>-93.063</c:v>
                </c:pt>
                <c:pt idx="24">
                  <c:v>-91.086</c:v>
                </c:pt>
                <c:pt idx="25">
                  <c:v>-91.951</c:v>
                </c:pt>
                <c:pt idx="26">
                  <c:v>-92.136</c:v>
                </c:pt>
                <c:pt idx="27">
                  <c:v>-92.982</c:v>
                </c:pt>
                <c:pt idx="28">
                  <c:v>-92.276</c:v>
                </c:pt>
                <c:pt idx="29">
                  <c:v>-90.263</c:v>
                </c:pt>
                <c:pt idx="30">
                  <c:v>-91.571</c:v>
                </c:pt>
                <c:pt idx="31">
                  <c:v>-90.316</c:v>
                </c:pt>
                <c:pt idx="32">
                  <c:v>-93.447</c:v>
                </c:pt>
                <c:pt idx="33">
                  <c:v>-91.783</c:v>
                </c:pt>
                <c:pt idx="34">
                  <c:v>-91.061</c:v>
                </c:pt>
                <c:pt idx="35">
                  <c:v>-92.861</c:v>
                </c:pt>
                <c:pt idx="36">
                  <c:v>-91.763</c:v>
                </c:pt>
                <c:pt idx="37">
                  <c:v>-91.763</c:v>
                </c:pt>
                <c:pt idx="38">
                  <c:v>-94.588</c:v>
                </c:pt>
                <c:pt idx="39">
                  <c:v>-91.888</c:v>
                </c:pt>
                <c:pt idx="40">
                  <c:v>-92.632</c:v>
                </c:pt>
                <c:pt idx="41">
                  <c:v>-92.933</c:v>
                </c:pt>
                <c:pt idx="42">
                  <c:v>-92.173</c:v>
                </c:pt>
                <c:pt idx="43">
                  <c:v>-92.866</c:v>
                </c:pt>
                <c:pt idx="44">
                  <c:v>-94.502</c:v>
                </c:pt>
                <c:pt idx="45">
                  <c:v>-93.2</c:v>
                </c:pt>
                <c:pt idx="46">
                  <c:v>-92.92</c:v>
                </c:pt>
                <c:pt idx="47">
                  <c:v>-90.152</c:v>
                </c:pt>
                <c:pt idx="48">
                  <c:v>-91.504</c:v>
                </c:pt>
                <c:pt idx="49">
                  <c:v>-92.103</c:v>
                </c:pt>
                <c:pt idx="50">
                  <c:v>-91.423</c:v>
                </c:pt>
                <c:pt idx="51">
                  <c:v>-89.825</c:v>
                </c:pt>
                <c:pt idx="52">
                  <c:v>-93.829</c:v>
                </c:pt>
                <c:pt idx="53">
                  <c:v>-91.146</c:v>
                </c:pt>
                <c:pt idx="54">
                  <c:v>-94.45</c:v>
                </c:pt>
                <c:pt idx="55">
                  <c:v>-95.399</c:v>
                </c:pt>
                <c:pt idx="56">
                  <c:v>-90.72</c:v>
                </c:pt>
                <c:pt idx="57">
                  <c:v>-94.314</c:v>
                </c:pt>
                <c:pt idx="58">
                  <c:v>-92.456</c:v>
                </c:pt>
                <c:pt idx="59">
                  <c:v>-89.451</c:v>
                </c:pt>
                <c:pt idx="60">
                  <c:v>-92.352</c:v>
                </c:pt>
                <c:pt idx="61">
                  <c:v>-91.926</c:v>
                </c:pt>
                <c:pt idx="62">
                  <c:v>-92.184</c:v>
                </c:pt>
                <c:pt idx="63">
                  <c:v>-90.019</c:v>
                </c:pt>
                <c:pt idx="64">
                  <c:v>-90.65</c:v>
                </c:pt>
                <c:pt idx="65">
                  <c:v>-94.956</c:v>
                </c:pt>
                <c:pt idx="66">
                  <c:v>-91.483</c:v>
                </c:pt>
                <c:pt idx="67">
                  <c:v>-91.424</c:v>
                </c:pt>
                <c:pt idx="68">
                  <c:v>-91.342</c:v>
                </c:pt>
                <c:pt idx="69">
                  <c:v>-90.111</c:v>
                </c:pt>
                <c:pt idx="70">
                  <c:v>-95.279</c:v>
                </c:pt>
                <c:pt idx="71">
                  <c:v>-90.255</c:v>
                </c:pt>
                <c:pt idx="72">
                  <c:v>-91.481</c:v>
                </c:pt>
                <c:pt idx="73">
                  <c:v>-91.939</c:v>
                </c:pt>
                <c:pt idx="74">
                  <c:v>-92.382</c:v>
                </c:pt>
                <c:pt idx="75">
                  <c:v>-93.812</c:v>
                </c:pt>
                <c:pt idx="76">
                  <c:v>-90.735</c:v>
                </c:pt>
                <c:pt idx="77">
                  <c:v>-90.506</c:v>
                </c:pt>
                <c:pt idx="78">
                  <c:v>-92.794</c:v>
                </c:pt>
                <c:pt idx="79">
                  <c:v>-91.846</c:v>
                </c:pt>
                <c:pt idx="80">
                  <c:v>-93.714</c:v>
                </c:pt>
                <c:pt idx="81">
                  <c:v>-93.534</c:v>
                </c:pt>
                <c:pt idx="82">
                  <c:v>-95.563</c:v>
                </c:pt>
                <c:pt idx="83">
                  <c:v>-92.979</c:v>
                </c:pt>
                <c:pt idx="84">
                  <c:v>-91.599</c:v>
                </c:pt>
                <c:pt idx="85">
                  <c:v>-93.885</c:v>
                </c:pt>
                <c:pt idx="86">
                  <c:v>-93.835</c:v>
                </c:pt>
                <c:pt idx="87">
                  <c:v>-92.842</c:v>
                </c:pt>
                <c:pt idx="88">
                  <c:v>-90.275</c:v>
                </c:pt>
                <c:pt idx="89">
                  <c:v>-88.668</c:v>
                </c:pt>
                <c:pt idx="90">
                  <c:v>-89.676</c:v>
                </c:pt>
                <c:pt idx="91">
                  <c:v>-90.483</c:v>
                </c:pt>
                <c:pt idx="92">
                  <c:v>-90.169</c:v>
                </c:pt>
                <c:pt idx="93">
                  <c:v>-94.852</c:v>
                </c:pt>
                <c:pt idx="94">
                  <c:v>-89.466</c:v>
                </c:pt>
                <c:pt idx="95">
                  <c:v>-92.778</c:v>
                </c:pt>
                <c:pt idx="96">
                  <c:v>-91.998</c:v>
                </c:pt>
                <c:pt idx="97">
                  <c:v>-89.961</c:v>
                </c:pt>
                <c:pt idx="98">
                  <c:v>-91.216</c:v>
                </c:pt>
                <c:pt idx="99">
                  <c:v>-91.861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Battery 4.5, no PER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none"/>
            <c:spPr>
              <a:noFill/>
              <a:ln>
                <a:noFill/>
              </a:ln>
            </c:spPr>
          </c:marker>
          <c:cat>
            <c:strRef>
              <c:f>Sheet1!$A$2:$A$101</c:f>
              <c:strCache>
                <c:ptCount val="1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50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75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100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150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175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200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225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250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275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300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325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350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>375</c:v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>400</c:v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425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>450</c:v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>475</c:v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500</c:v>
                </c:pt>
              </c:strCache>
            </c: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-87.968</c:v>
                </c:pt>
                <c:pt idx="1">
                  <c:v>-86.443</c:v>
                </c:pt>
                <c:pt idx="2">
                  <c:v>-84.409</c:v>
                </c:pt>
                <c:pt idx="3">
                  <c:v>-85.664</c:v>
                </c:pt>
                <c:pt idx="4">
                  <c:v>-83.056</c:v>
                </c:pt>
                <c:pt idx="5">
                  <c:v>-84.798</c:v>
                </c:pt>
                <c:pt idx="6">
                  <c:v>-86.422</c:v>
                </c:pt>
                <c:pt idx="7">
                  <c:v>-84.413</c:v>
                </c:pt>
                <c:pt idx="8">
                  <c:v>-85.266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Battery 4.5, PER + warm-start</c:v>
                </c:pt>
              </c:strCache>
            </c:strRef>
          </c:tx>
          <c:spPr>
            <a:ln w="28575">
              <a:solidFill>
                <a:srgbClr val="F2A65A"/>
              </a:solidFill>
            </a:ln>
          </c:spPr>
          <c:marker>
            <c:symbol val="none"/>
            <c:spPr>
              <a:noFill/>
              <a:ln>
                <a:noFill/>
              </a:ln>
            </c:spPr>
          </c:marker>
          <c:cat>
            <c:strRef>
              <c:f>Sheet1!$A$2:$A$101</c:f>
              <c:strCache>
                <c:ptCount val="1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50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75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100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125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150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175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200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225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250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275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300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325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350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>375</c:v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>400</c:v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425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>450</c:v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>475</c:v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500</c:v>
                </c:pt>
              </c:strCache>
            </c:strRef>
          </c:cat>
          <c:val>
            <c:numRef>
              <c:f>Sheet1!$D$2:$D$101</c:f>
              <c:numCache>
                <c:formatCode>General</c:formatCode>
                <c:ptCount val="100"/>
                <c:pt idx="0">
                  <c:v>-88.089</c:v>
                </c:pt>
                <c:pt idx="1">
                  <c:v>-86.864</c:v>
                </c:pt>
                <c:pt idx="2">
                  <c:v>-84.719</c:v>
                </c:pt>
                <c:pt idx="3">
                  <c:v>-86.66</c:v>
                </c:pt>
                <c:pt idx="4">
                  <c:v>-84.555</c:v>
                </c:pt>
                <c:pt idx="5">
                  <c:v>-85.204</c:v>
                </c:pt>
                <c:pt idx="6">
                  <c:v>-86.061</c:v>
                </c:pt>
                <c:pt idx="7">
                  <c:v>-84.681</c:v>
                </c:pt>
                <c:pt idx="8">
                  <c:v>-85.696</c:v>
                </c:pt>
                <c:pt idx="9">
                  <c:v>-85.356</c:v>
                </c:pt>
                <c:pt idx="10">
                  <c:v>-85.51</c:v>
                </c:pt>
                <c:pt idx="11">
                  <c:v>-85.49</c:v>
                </c:pt>
                <c:pt idx="12">
                  <c:v>-84.419</c:v>
                </c:pt>
                <c:pt idx="13">
                  <c:v>-84.252</c:v>
                </c:pt>
                <c:pt idx="14">
                  <c:v>-86.413</c:v>
                </c:pt>
                <c:pt idx="15">
                  <c:v>-85.596</c:v>
                </c:pt>
                <c:pt idx="16">
                  <c:v>-83.845</c:v>
                </c:pt>
                <c:pt idx="17">
                  <c:v>-85.608</c:v>
                </c:pt>
                <c:pt idx="18">
                  <c:v>-84.96</c:v>
                </c:pt>
                <c:pt idx="19">
                  <c:v>-85.082</c:v>
                </c:pt>
                <c:pt idx="20">
                  <c:v>-84.67</c:v>
                </c:pt>
                <c:pt idx="21">
                  <c:v>-89.337</c:v>
                </c:pt>
                <c:pt idx="22">
                  <c:v>-88.274</c:v>
                </c:pt>
                <c:pt idx="23">
                  <c:v>-86.487</c:v>
                </c:pt>
                <c:pt idx="24">
                  <c:v>-86.897</c:v>
                </c:pt>
                <c:pt idx="25">
                  <c:v>-86.083</c:v>
                </c:pt>
                <c:pt idx="26">
                  <c:v>-86.119</c:v>
                </c:pt>
                <c:pt idx="27">
                  <c:v>-86.107</c:v>
                </c:pt>
                <c:pt idx="28">
                  <c:v>-84.658</c:v>
                </c:pt>
                <c:pt idx="29">
                  <c:v>-84.864</c:v>
                </c:pt>
                <c:pt idx="30">
                  <c:v>-85.126</c:v>
                </c:pt>
                <c:pt idx="31">
                  <c:v>-83.883</c:v>
                </c:pt>
                <c:pt idx="32">
                  <c:v>-87.079</c:v>
                </c:pt>
                <c:pt idx="33">
                  <c:v>-86.078</c:v>
                </c:pt>
                <c:pt idx="34">
                  <c:v>-84.77</c:v>
                </c:pt>
                <c:pt idx="35">
                  <c:v>-86.661</c:v>
                </c:pt>
                <c:pt idx="36">
                  <c:v>-85.402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>
                    <a:solidFill>
                      <a:srgbClr val="6B7280"/>
                    </a:solidFill>
                    <a:latin typeface="Calibri"/>
                  </a:rPr>
                  <a:t>Training iteration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8DCE8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EF0F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>
                    <a:solidFill>
                      <a:srgbClr val="6B7280"/>
                    </a:solidFill>
                    <a:latin typeface="Calibri"/>
                  </a:rPr>
                  <a:t>Mean training reward (CHF / episode-week)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B1F3B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273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16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2A65A"/>
                </a:solidFill>
                <a:latin typeface="Calibri"/>
              </a:rPr>
              <a:t>FIXED-DESIGN ACTOR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DDPG Results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PV = 6.6 kWp  •  Battery = 4.5 kWh  •  Prioritized replay + rule-based warm-start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C9"/>
                </a:solidFill>
                <a:latin typeface="Calibri"/>
              </a:rPr>
              <a:t>MCD310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2A65A"/>
                </a:solidFill>
                <a:latin typeface="Calibri"/>
              </a:rPr>
              <a:t>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What We Did This Session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55448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3B"/>
                </a:solidFill>
                <a:latin typeface="Calibri"/>
              </a:rPr>
              <a:t>Launched actor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92807"/>
            <a:ext cx="44805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Started DDPG training for the actor with design fixed at PV = 6.6 kWp, battery = 4.5 kWh.</a:t>
            </a:r>
          </a:p>
        </p:txBody>
      </p:sp>
      <p:sp>
        <p:nvSpPr>
          <p:cNvPr id="9" name="Oval 8"/>
          <p:cNvSpPr/>
          <p:nvPr/>
        </p:nvSpPr>
        <p:spPr>
          <a:xfrm>
            <a:off x="5989319" y="16459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19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399" y="1554480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3B"/>
                </a:solidFill>
                <a:latin typeface="Calibri"/>
              </a:rPr>
              <a:t>Diagnosed a false 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99" y="1892807"/>
            <a:ext cx="44805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Background CPU checks looked frozen; a control test proved processes were actually running fine — switched to log-based progress checks.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1868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127248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3B"/>
                </a:solidFill>
                <a:latin typeface="Calibri"/>
              </a:rPr>
              <a:t>Explained the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465575"/>
            <a:ext cx="44805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Walked through the actor/critic architecture, hyperparameters, reward equations, gradient computation, and target-network updates in detail.</a:t>
            </a:r>
          </a:p>
        </p:txBody>
      </p:sp>
      <p:sp>
        <p:nvSpPr>
          <p:cNvPr id="17" name="Oval 16"/>
          <p:cNvSpPr/>
          <p:nvPr/>
        </p:nvSpPr>
        <p:spPr>
          <a:xfrm>
            <a:off x="5989319" y="3218687"/>
            <a:ext cx="457200" cy="457200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19" y="321868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399" y="3127248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3B"/>
                </a:solidFill>
                <a:latin typeface="Calibri"/>
              </a:rPr>
              <a:t>Flagged a plateau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9" y="3465575"/>
            <a:ext cx="44805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Training reward stayed flat (−83 to −88) through iteration 45 with no clear upward trend — training was stopped for review.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791455"/>
            <a:ext cx="457200" cy="457200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9145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4700016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3B"/>
                </a:solidFill>
                <a:latin typeface="Calibri"/>
              </a:rPr>
              <a:t>Implemented two improvements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5038344"/>
            <a:ext cx="44805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Added Prioritized Experience Replay (TD-error-weighted sampling) and a rule-based warm-start to pre-fill the replay buffer before training.</a:t>
            </a:r>
          </a:p>
        </p:txBody>
      </p:sp>
      <p:sp>
        <p:nvSpPr>
          <p:cNvPr id="25" name="Oval 24"/>
          <p:cNvSpPr/>
          <p:nvPr/>
        </p:nvSpPr>
        <p:spPr>
          <a:xfrm>
            <a:off x="5989319" y="4791455"/>
            <a:ext cx="457200" cy="457200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19" y="479145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399" y="4700016"/>
            <a:ext cx="44805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3B"/>
                </a:solidFill>
                <a:latin typeface="Calibri"/>
              </a:rPr>
              <a:t>Restarted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399" y="5038344"/>
            <a:ext cx="44805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Re-launched with both improvements; the run reached iteration 185/500 before the session was interrupted.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2A65A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Three Configurations Tested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29768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76200" dist="38100" dir="5400000" rotWithShape="0">
              <a:srgbClr val="0F1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6616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PV 6.6 / Battery 4.99, plain DDPG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ITERATIONS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930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500 / 500 (complete)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6791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FIRST-10 AVG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−94.27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970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LAST-10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3659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−91.95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1149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NET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58383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+2.5%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645920"/>
            <a:ext cx="3566160" cy="429768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76200" dist="38100" dir="5400000" rotWithShape="0">
              <a:srgbClr val="0F1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164592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057400"/>
            <a:ext cx="3566160" cy="4114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No 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6060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PV 6.6 / Battery 4.5, plain DDPG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246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ITERATIONS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4930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45 / 500 (stopped)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6791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FIRST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1148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−87.97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48970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LAST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73659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−85.27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11149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358383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No clear trend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645920"/>
            <a:ext cx="3566160" cy="429768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76200" dist="38100" dir="5400000" rotWithShape="0">
              <a:srgbClr val="0F1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164592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2057400"/>
            <a:ext cx="3566160" cy="41148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PER + Warm-start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6060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PV 6.6 / Battery 4.5, our two fixes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246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ITERATIONS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4930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185 / 500 (interrupted)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86791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FIRST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1148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−88.09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48970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LAST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73659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−85.40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11149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6B7280"/>
                </a:solidFill>
                <a:latin typeface="Calibri"/>
              </a:rPr>
              <a:t>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358383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1F3B"/>
                </a:solidFill>
                <a:latin typeface="Calibri"/>
              </a:rPr>
              <a:t>No clear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2A65A"/>
                </a:solidFill>
                <a:latin typeface="Calibri"/>
              </a:rPr>
              <a:t>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Training Reward vs. Iteration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112471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Training reward includes exploration noise (σ=0.20) and is not a clean measure of policy quality — see next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2A65A"/>
                </a:solidFill>
                <a:latin typeface="Calibri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Key Finding: A Persistent Plateau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429000" cy="173736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76200" dist="38100" dir="5400000" rotWithShape="0">
              <a:srgbClr val="0F1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A65A"/>
                </a:solidFill>
                <a:latin typeface="Cambria"/>
              </a:rPr>
              <a:t>500 /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iterations completed for the baseline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00200"/>
            <a:ext cx="3429000" cy="173736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76200" dist="38100" dir="5400000" rotWithShape="0">
              <a:srgbClr val="0F1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7830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A65A"/>
                </a:solidFill>
                <a:latin typeface="Cambria"/>
              </a:rPr>
              <a:t>+2.5%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56032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reward change from first 10 to last 10 iterations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00200"/>
            <a:ext cx="3429000" cy="173736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76200" dist="38100" dir="5400000" rotWithShape="0">
              <a:srgbClr val="0F143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830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A65A"/>
                </a:solidFill>
                <a:latin typeface="Cambria"/>
              </a:rPr>
              <a:t>~iter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56032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where every run's reward flattens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B1F3B"/>
                </a:solidFill>
                <a:latin typeface="Calibri"/>
              </a:rPr>
              <a:t>All three configurations — including the one that ran the full 500 iterations — show the same pattern: reward drops sharply in the first ~20 iterations, then oscillates in a narrow band with no further improvement. Prioritized replay and the rule-based warm-start did not change this shape within the iterations reached, which points to a structural limit (exploration noise that never decays, a very small actor learning rate, or unnormalized reward scale) rather than a replay-buffer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2A65A"/>
                </a:solidFill>
                <a:latin typeface="Calibri"/>
              </a:rPr>
              <a:t>WHERE TO GO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Recommended 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3677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1F3B"/>
                </a:solidFill>
                <a:latin typeface="Calibri"/>
              </a:rPr>
              <a:t>TD3-style critic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4767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Twin critics (clipped double-Q) + delayed, smoothed actor updates — targets DDPG's core overestimation-bias failure mode directly.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0545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1F3B"/>
                </a:solidFill>
                <a:latin typeface="Calibri"/>
              </a:rPr>
              <a:t>Anneal exploration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163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Decay σ from 0.20 toward ~0.05 over training instead of holding it fixed — lets the actor exploit as it improves.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7413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1F3B"/>
                </a:solidFill>
                <a:latin typeface="Calibri"/>
              </a:rPr>
              <a:t>Scale the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8503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Normalize the raw CHF cost signal so critic targets aren't dominated by scale swings.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29768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4281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1F3B"/>
                </a:solidFill>
                <a:latin typeface="Calibri"/>
              </a:rPr>
              <a:t>Track deterministic reward mid-run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537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Log the noise-free evaluation reward periodically, not just at the very end, to separate real learning from exploration noise.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1663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11149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1F3B"/>
                </a:solidFill>
                <a:latin typeface="Calibri"/>
              </a:rPr>
              <a:t>Finish a run to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2239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Let the PER + warm-start run reach all 500 iterations uninterrupted before judging whether it helped.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273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F2A65A"/>
                </a:solidFill>
                <a:latin typeface="Calibri"/>
              </a:rPr>
              <a:t>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Training is paused, not finished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lnSpc>
                <a:spcPct val="130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CADCFC"/>
                </a:solidFill>
                <a:latin typeface="Calibri"/>
              </a:rPr>
              <a:t>The PER + warm-start run reached iteration 185 of 500 before the session/process was interrupted — it did not crash.</a:t>
            </a:r>
          </a:p>
          <a:p>
            <a:pPr indent="-201168" marL="201168">
              <a:lnSpc>
                <a:spcPct val="130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CADCFC"/>
                </a:solidFill>
                <a:latin typeface="Calibri"/>
              </a:rPr>
              <a:t>No deterministic (noise-free) evaluation has been completed yet for either battery = 4.5 configuration.</a:t>
            </a:r>
          </a:p>
          <a:p>
            <a:pPr indent="-201168" marL="201168">
              <a:lnSpc>
                <a:spcPct val="130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CADCFC"/>
                </a:solidFill>
                <a:latin typeface="Calibri"/>
              </a:rPr>
              <a:t>The original battery = 4.99 baseline is the only run with a full 500-iteration result, and it also plateaued early.</a:t>
            </a:r>
          </a:p>
          <a:p>
            <a:pPr indent="-201168" marL="201168">
              <a:lnSpc>
                <a:spcPct val="130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CADCFC"/>
                </a:solidFill>
                <a:latin typeface="Calibri"/>
              </a:rPr>
              <a:t>Ready to resume training, extend it to completion, or apply the next-step changes on the previous slide — your 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